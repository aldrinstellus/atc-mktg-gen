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Manrope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anrope-bold.fntdata"/><Relationship Id="rId25" Type="http://schemas.openxmlformats.org/officeDocument/2006/relationships/font" Target="fonts/Manrope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ff1909de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ff1909de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ff1909de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ff1909de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ff1909de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ff1909de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ff1909de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ff1909de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ff1909de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ff1909de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ff1909de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ff1909de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ff1909de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ff1909de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ff1909de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ff1909de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ff1909de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ff1909de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ff1909de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ff1909de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ff1909de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ff1909de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ff1909de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ff1909de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ff1909de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ff1909de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083ff540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083ff540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3_1_TITLEANDBULLETS_D">
  <p:cSld name="CUSTOM_1_2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>
            <p:ph idx="2" type="pic"/>
          </p:nvPr>
        </p:nvSpPr>
        <p:spPr>
          <a:xfrm>
            <a:off x="44150" y="15450"/>
            <a:ext cx="5139600" cy="5112600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5474125" y="421575"/>
            <a:ext cx="3350100" cy="9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/>
        </p:nvSpPr>
        <p:spPr>
          <a:xfrm>
            <a:off x="5474125" y="1741073"/>
            <a:ext cx="4404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01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5474125" y="2737771"/>
            <a:ext cx="4404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02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5474125" y="3725324"/>
            <a:ext cx="4404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03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18014" y="1797075"/>
            <a:ext cx="2606400" cy="868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3" type="body"/>
          </p:nvPr>
        </p:nvSpPr>
        <p:spPr>
          <a:xfrm>
            <a:off x="6218014" y="2793775"/>
            <a:ext cx="2606400" cy="868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4" type="body"/>
          </p:nvPr>
        </p:nvSpPr>
        <p:spPr>
          <a:xfrm>
            <a:off x="6218014" y="3790475"/>
            <a:ext cx="2606400" cy="868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7" name="Google Shape;67;p15"/>
          <p:cNvCxnSpPr/>
          <p:nvPr/>
        </p:nvCxnSpPr>
        <p:spPr>
          <a:xfrm>
            <a:off x="5887756" y="1962404"/>
            <a:ext cx="3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5"/>
          <p:cNvCxnSpPr/>
          <p:nvPr/>
        </p:nvCxnSpPr>
        <p:spPr>
          <a:xfrm>
            <a:off x="5884032" y="2956905"/>
            <a:ext cx="3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5887756" y="3951406"/>
            <a:ext cx="3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 rotWithShape="1">
          <a:blip r:embed="rId3">
            <a:alphaModFix/>
          </a:blip>
          <a:srcRect b="0" l="39" r="39" t="0"/>
          <a:stretch/>
        </p:blipFill>
        <p:spPr>
          <a:xfrm>
            <a:off x="0" y="19936"/>
            <a:ext cx="9143544" cy="511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2: The Core Problem&#10;&#10;Headline: Why simple chains aren't enough.&#10;&#10;    Linear Chains (DAGs): Good for fixed inputs → outputs (e.g., RAG).&#10;&#10;    The Limitation: Real-world tasks require loops, error correction, and dynamic decision-making.&#10;&#10;    The Solution: LangGraph. A library for building stateful, multi-actor applications with cyclic graph capabilities."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4: Infrastructure Strategy&#10;&#10;Headline: Self-Hosted vs. Cloud (LangSmith).&#10;Feature Self-Hosted (OSS) Cloud (LangSmith)&#10;Deployment Docker/K8s (Control plane required) Managed Serverless&#10;Data Privacy Air-gapped / VPC internal SaaS Compliance (SOC2)&#10;Observability Custom Setup (Jaeger/Langfuse) Native Tracing &amp; Evaluation&#10;Maintenance High (DevOps overhead) Low (Fully Managed)'"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5: Memory &amp; Persistence&#10;&#10;Headline: Giving Agents a &quot;Brain.&quot;&#10;&#10;    Short-term Memory:&#10;&#10;        Mechanism: Checkpointers (e.g., PostgresSaver, RedisSaver).&#10;&#10;        Function: Saves the state at every step. Allows pausing/resuming workflows.&#10;&#10;    Long-term Memory:&#10;&#10;        Mechanism: Vector Databases / Knowledge Graphs.&#10;&#10;        Function: Storing user preferences or facts across distinct conversation threads."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: Team of Agents&#10;&#10;Headline: The &quot;Supervisor&quot; Pattern.&#10;&#10;    Concept: Single-purpose agents are more reliable than one &quot;God Model.&quot;&#10;&#10;    Architecture:&#10;&#10;        Supervisor Node (LLM): Acts as the router/manager.&#10;&#10;        Worker Nodes: Specialized tools (e.g., Coder, Researcher, Reviewer).&#10;&#10;    Flow: Supervisor delegates task → Worker executes → Worker returns output to Supervisor → Supervisor decides next step or finishes."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text content is too detailed, can you shorten it"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7: Streaming &amp; Rendering (UX)&#10;&#10;Headline: Managing Latency and Rich Output&#10;&#10;    Streaming Strategy:&#10;&#10;        The Problem: LLMs are slow. Waiting for a full response hurts the user experience.&#10;&#10;        Token Streaming: Stream text character-by-character to reduce &quot;Time to First Byte.&quot;&#10;&#10;        Message Streaming: Stream full data objects when tools return structured data (like JSON for charts).&#10;&#10;    Rendering Markdown:&#10;&#10;        Rich Text Support: LLMs output raw Markdown. Your UI must interpret this to render Tables, Code Blocks, and Lists properly.&#10;&#10;        Implementation Overview: Use a standard Markdown component (e.g., react-markdown) combined with plugins (like remark-gfm) to ensure complex formatting (like GitHub-style tables) displays correctly to the user."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8: Human-in-the-Loop (HITL)&#10;&#10;Headline: Safety, Oversight, and Collaboration&#10;&#10;    The Concept: The agent is not fully autonomous; it pauses at critical junctures for user input.&#10;&#10;    Mechanism:&#10;&#10;        Interruption: Configure the graph to interrupt_before sensitive actions (e.g., sending an email or deploying code).&#10;&#10;        State Inspection: The UI fetches the current thread state so the user can review the agent's plan.&#10;&#10;    User Actions:&#10;&#10;        Approve: The user signals the agent to continue execution.&#10;&#10;        Edit/Feedback: The user modifies the state (e.g., edits the email draft) or provides feedback, prompting the agent to replan."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eep the title just as Model Serving "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## **Slide 11: LangGraph Middleware**&#10;**Headline:** Native Lifecycle Hooks&#10;* **What is it?**&#10;    * A feature that allows you to inject logic *around* model and tool calls without cluttering your node code. It functions like &quot;interceptors&quot; or &quot;wrappers&quot; found in web frameworks.&#10;* **Key Capabilities:**&#10;    * **Centralized Reliability:** Instead of implementing error handling inside every single agent node, middleware handles retries and fallbacks globally. If a primary model fails, the system handles the switch automatically.&#10;    * **Safety &amp; Compliance (PII):** Acts as a security gate that can automatically scan and redact sensitive information (like PII) from inputs before they are sent to the model, ensuring data doesn't leak."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the below slide in a single column layout&#10;## **Slide 12: Context Engineering**&#10;**Headline:** Managing What the Model Sees&#10;* **Dynamic Instructions:**&#10;    * Change the system prompt based on the active node. A &quot;Coder&quot; agent needs different rules and context than a &quot;Reviewer&quot; agent.&#10;* **Managing History:**&#10;    * Long conversations break models and increase costs.&#10;    * **Strategy:** Automatically **Summarize** old interactions to keep the context short, or **Trim** the oldest messages to stay within token limits.&#10;* **Just-In-Time Context:**&#10;    * Don't &quot;stuff&quot; the prompt with every possible document. Inject specific data or schemas only when the agent actually needs them for the current step."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&#10;## **Slide 13: Trust &amp; Observability**&#10;**Headline:** Building Confidence in Autonomous Systems&#10;* **The &quot;Black Box&quot; Problem:**&#10;    * Agents can take unexpected paths. Without visibility into their internal logic, you cannot trust them in production environments.&#10;* **Deep Tracing:**&#10;    * Visualize the full execution graph. See every decision point, tool call, and state change in real-time to understand *why* an agent made a specific choice.&#10;* **Langfuse (Open Source Observability):**&#10;    * **Integration:** A dedicated platform that plugs directly into LangGraph to capture every step of the agent's execution.&#10;    * **Core Capabilities:** Provides a unified dashboard to inspect detailed traces, track token usage and costs, and monitor latency across different environments to ensure system health."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25"/>
            <a:ext cx="9143545" cy="561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&#10;## **Slide 10: Leveraging Small Language Models (SLMs)**&#10;**Headline:** Efficiency, Quantization, and Hardware Independence&#10;&#10;* **The &quot;Specialist&quot; Advantage:**&#10;    SLMs trade broad world knowledge for speed. They rival frontier models on specific tasks like classification or summarization but run much faster.&#10;* **Quantization (Compression):**&#10;    Reduces model weight precision to shrink memory footprint. Allows larger models to run on smaller hardware with minimal accuracy loss.&#10;* **Hardware Implications:**&#10;    Lowers the barrier to entry. Capable models can now run on consumer laptops or cheap cloud instances, removing the need for massive GPU clusters.&#10;* **Cons:**&#10;    * **Lower Reasoning:** Struggles with complex logic or ambiguity.&#10;    * **Context Reliance:** Needs perfect context (RAG) to function well.&#10;    * **Fragility:** Highly sensitive to prompt phrasing compared to GPT-4 class models."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